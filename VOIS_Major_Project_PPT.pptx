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6" r:id="rId13"/>
    <p:sldId id="345"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B6720B-19E7-469A-90E5-708EDC28E76B}" v="4" dt="2026-09-04T17:13:38.460"/>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4" d="100"/>
          <a:sy n="74" d="100"/>
        </p:scale>
        <p:origin x="296"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355" y="4138009"/>
            <a:ext cx="4796287" cy="861497"/>
          </a:xfrm>
        </p:spPr>
        <p:txBody>
          <a:bodyPr vert="horz" lIns="91440" tIns="45720" rIns="91440" bIns="45720" rtlCol="0" anchor="t">
            <a:noAutofit/>
          </a:bodyPr>
          <a:lstStyle/>
          <a:p>
            <a:pPr algn="just"/>
            <a:r>
              <a:rPr lang="en-US" sz="2200" b="0" dirty="0">
                <a:solidFill>
                  <a:schemeClr val="tx1"/>
                </a:solidFill>
                <a:latin typeface="Times New Roman" panose="02020603050405020304" pitchFamily="18" charset="0"/>
                <a:cs typeface="Times New Roman" panose="02020603050405020304" pitchFamily="18" charset="0"/>
              </a:rPr>
              <a:t>Student Name – </a:t>
            </a:r>
            <a:r>
              <a:rPr lang="en-US" sz="2200" b="0" dirty="0" err="1">
                <a:solidFill>
                  <a:schemeClr val="tx1"/>
                </a:solidFill>
                <a:latin typeface="Times New Roman" panose="02020603050405020304" pitchFamily="18" charset="0"/>
                <a:cs typeface="Times New Roman" panose="02020603050405020304" pitchFamily="18" charset="0"/>
              </a:rPr>
              <a:t>Choppara.Manaswini</a:t>
            </a:r>
            <a:endParaRPr lang="en-IN" sz="2200" b="0" dirty="0">
              <a:solidFill>
                <a:schemeClr val="tx1"/>
              </a:solidFill>
              <a:latin typeface="Times New Roman" panose="02020603050405020304" pitchFamily="18" charset="0"/>
              <a:cs typeface="Times New Roman" panose="02020603050405020304" pitchFamily="18" charset="0"/>
            </a:endParaRPr>
          </a:p>
          <a:p>
            <a:pPr algn="just"/>
            <a:r>
              <a:rPr lang="en-US" sz="2200" b="0" dirty="0">
                <a:solidFill>
                  <a:schemeClr val="tx1"/>
                </a:solidFill>
                <a:latin typeface="Times New Roman" panose="02020603050405020304" pitchFamily="18" charset="0"/>
                <a:cs typeface="Times New Roman" panose="02020603050405020304" pitchFamily="18" charset="0"/>
              </a:rPr>
              <a:t>College Name – CMR University </a:t>
            </a:r>
            <a:endParaRPr lang="en-IN" sz="2200" b="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58792" y="2960310"/>
            <a:ext cx="9609827" cy="743448"/>
          </a:xfrm>
        </p:spPr>
        <p:txBody>
          <a:bodyPr>
            <a:noAutofit/>
          </a:bodyPr>
          <a:lstStyle/>
          <a:p>
            <a:r>
              <a:rPr lang="en-GB" sz="3000" b="1" dirty="0">
                <a:latin typeface="Times New Roman" panose="02020603050405020304" pitchFamily="18" charset="0"/>
                <a:cs typeface="Times New Roman" panose="02020603050405020304" pitchFamily="18" charset="0"/>
              </a:rPr>
              <a:t>Project Title - </a:t>
            </a:r>
            <a:r>
              <a:rPr lang="en-IN" sz="3000" b="1" dirty="0">
                <a:latin typeface="Times New Roman" panose="02020603050405020304" pitchFamily="18" charset="0"/>
                <a:cs typeface="Times New Roman" panose="02020603050405020304" pitchFamily="18" charset="0"/>
              </a:rPr>
              <a:t>Seasonal Agriculture Performance Analysis</a:t>
            </a:r>
            <a:r>
              <a:rPr lang="en-GB" sz="3000" b="1" dirty="0">
                <a:latin typeface="Times New Roman" panose="02020603050405020304" pitchFamily="18" charset="0"/>
                <a:cs typeface="Times New Roman" panose="02020603050405020304" pitchFamily="18" charset="0"/>
              </a:rPr>
              <a:t> </a:t>
            </a:r>
            <a:endParaRPr lang="en-IN" sz="3000" b="1"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355" y="5922109"/>
            <a:ext cx="4287454" cy="70788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AICTE STU ID : (STU69fc9b45ba1ce1778162501)</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18447" y="1590032"/>
            <a:ext cx="7555739" cy="4347712"/>
          </a:xfrm>
        </p:spPr>
        <p:txBody>
          <a:bodyPr vert="horz" lIns="91440" tIns="45720" rIns="91440" bIns="45720" rtlCol="0" anchor="t">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357786" y="438273"/>
            <a:ext cx="6995604" cy="790111"/>
          </a:xfrm>
        </p:spPr>
        <p:txBody>
          <a:bodyPr>
            <a:normAutofit/>
          </a:bodyPr>
          <a:lstStyle/>
          <a:p>
            <a:r>
              <a:rPr lang="en-US" sz="4000" dirty="0">
                <a:latin typeface="Times New Roman" panose="02020603050405020304" pitchFamily="18" charset="0"/>
                <a:cs typeface="Times New Roman" panose="02020603050405020304" pitchFamily="18" charset="0"/>
              </a:rPr>
              <a:t>PROBLEM  STATEMENT</a:t>
            </a:r>
            <a:endParaRPr lang="en-IN"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315342" y="313508"/>
            <a:ext cx="8923549" cy="782047"/>
          </a:xfrm>
        </p:spPr>
        <p:txBody>
          <a:bodyPr>
            <a:normAutofit fontScale="90000"/>
          </a:bodyPr>
          <a:lstStyle/>
          <a:p>
            <a:r>
              <a:rPr lang="en-GB" sz="4400" dirty="0">
                <a:latin typeface="Times New Roman" panose="02020603050405020304" pitchFamily="18" charset="0"/>
                <a:cs typeface="Times New Roman" panose="02020603050405020304" pitchFamily="18" charset="0"/>
              </a:rPr>
              <a:t>Project Description</a:t>
            </a:r>
            <a:br>
              <a:rPr lang="en-GB" sz="4400" dirty="0">
                <a:latin typeface="Times New Roman" panose="02020603050405020304" pitchFamily="18" charset="0"/>
                <a:cs typeface="Times New Roman" panose="02020603050405020304" pitchFamily="18" charset="0"/>
              </a:rPr>
            </a:br>
            <a:br>
              <a:rPr lang="en-IN" sz="2700" b="0" dirty="0">
                <a:latin typeface="Times New Roman" panose="02020603050405020304" pitchFamily="18" charset="0"/>
                <a:cs typeface="Times New Roman" panose="02020603050405020304" pitchFamily="18" charset="0"/>
              </a:rPr>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8" name="TextBox 7">
            <a:extLst>
              <a:ext uri="{FF2B5EF4-FFF2-40B4-BE49-F238E27FC236}">
                <a16:creationId xmlns:a16="http://schemas.microsoft.com/office/drawing/2014/main" id="{4297499F-C517-3BDA-C7DF-46DAB48E3537}"/>
              </a:ext>
            </a:extLst>
          </p:cNvPr>
          <p:cNvSpPr txBox="1"/>
          <p:nvPr/>
        </p:nvSpPr>
        <p:spPr>
          <a:xfrm>
            <a:off x="246330" y="1152200"/>
            <a:ext cx="9182341" cy="5324535"/>
          </a:xfrm>
          <a:prstGeom prst="rect">
            <a:avLst/>
          </a:prstGeom>
          <a:noFill/>
        </p:spPr>
        <p:txBody>
          <a:bodyPr wrap="square" rtlCol="0">
            <a:spAutoFit/>
          </a:bodyPr>
          <a:lstStyle/>
          <a:p>
            <a:pPr marL="285750" indent="-285750">
              <a:buFont typeface="Wingdings" panose="05000000000000000000" pitchFamily="2" charset="2"/>
              <a:buChar char="§"/>
            </a:pPr>
            <a:r>
              <a:rPr lang="en-GB" sz="2000" dirty="0">
                <a:latin typeface="Times New Roman" panose="02020603050405020304" pitchFamily="18" charset="0"/>
                <a:cs typeface="Times New Roman" panose="02020603050405020304" pitchFamily="18" charset="0"/>
              </a:rPr>
              <a:t>S</a:t>
            </a:r>
            <a:r>
              <a:rPr lang="en-IN" sz="2000" dirty="0" err="1">
                <a:latin typeface="Times New Roman" panose="02020603050405020304" pitchFamily="18" charset="0"/>
                <a:cs typeface="Times New Roman" panose="02020603050405020304" pitchFamily="18" charset="0"/>
              </a:rPr>
              <a:t>easonal</a:t>
            </a:r>
            <a:r>
              <a:rPr lang="en-IN" sz="2000" dirty="0">
                <a:latin typeface="Times New Roman" panose="02020603050405020304" pitchFamily="18" charset="0"/>
                <a:cs typeface="Times New Roman" panose="02020603050405020304" pitchFamily="18" charset="0"/>
              </a:rPr>
              <a:t> Agriculture Performance Analysis is a data analytics project that studies agricultural activities across different seasons.</a:t>
            </a:r>
          </a:p>
          <a:p>
            <a:pPr marL="285750" indent="-28575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The dataset contains 4,000 farm records and 28 attributes, including: </a:t>
            </a:r>
          </a:p>
          <a:p>
            <a:pPr marL="285750" indent="-28575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Crop and season </a:t>
            </a:r>
          </a:p>
          <a:p>
            <a:pPr marL="285750" indent="-28575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Rainfall, temperature and humidity </a:t>
            </a:r>
          </a:p>
          <a:p>
            <a:pPr marL="285750" indent="-28575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Soil conditions and nutrients </a:t>
            </a:r>
          </a:p>
          <a:p>
            <a:pPr marL="285750" indent="-28575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Irrigation and fertilizer usage </a:t>
            </a:r>
          </a:p>
          <a:p>
            <a:pPr marL="285750" indent="-28575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Yield and production </a:t>
            </a:r>
          </a:p>
          <a:p>
            <a:pPr marL="285750" indent="-28575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Market price, cost, revenue and profit </a:t>
            </a:r>
          </a:p>
          <a:p>
            <a:pPr marL="285750" indent="-28575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Water usage and disease/pest risk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The analysis compares these factors across seasons to identify meaningful patterns and relationships.</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 small flow:</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Dataset → Data Cleaning → Exploratory Analysis → Visualization → Seasonal Comparison → Insights → Recommendations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586596" y="991074"/>
            <a:ext cx="7634377" cy="5389022"/>
          </a:xfrm>
        </p:spPr>
        <p:txBody>
          <a:bodyPr>
            <a:normAutofit fontScale="92500" lnSpcReduction="10000"/>
          </a:bodyPr>
          <a:lstStyle/>
          <a:p>
            <a:pPr marL="0" indent="0">
              <a:buNone/>
            </a:pPr>
            <a:r>
              <a:rPr lang="en-IN" sz="1900" b="1" dirty="0">
                <a:latin typeface="Times New Roman" panose="02020603050405020304" pitchFamily="18" charset="0"/>
                <a:cs typeface="Times New Roman" panose="02020603050405020304" pitchFamily="18" charset="0"/>
              </a:rPr>
              <a:t>Farmers</a:t>
            </a:r>
            <a:endParaRPr lang="en-IN" sz="1900" dirty="0">
              <a:latin typeface="Times New Roman" panose="02020603050405020304" pitchFamily="18" charset="0"/>
              <a:cs typeface="Times New Roman" panose="02020603050405020304" pitchFamily="18" charset="0"/>
            </a:endParaRPr>
          </a:p>
          <a:p>
            <a:pPr lvl="0"/>
            <a:r>
              <a:rPr lang="en-IN" sz="1900" dirty="0">
                <a:latin typeface="Times New Roman" panose="02020603050405020304" pitchFamily="18" charset="0"/>
                <a:cs typeface="Times New Roman" panose="02020603050405020304" pitchFamily="18" charset="0"/>
              </a:rPr>
              <a:t>Understand seasonal crop performance </a:t>
            </a:r>
          </a:p>
          <a:p>
            <a:pPr lvl="0"/>
            <a:r>
              <a:rPr lang="en-IN" sz="1900" dirty="0">
                <a:latin typeface="Times New Roman" panose="02020603050405020304" pitchFamily="18" charset="0"/>
                <a:cs typeface="Times New Roman" panose="02020603050405020304" pitchFamily="18" charset="0"/>
              </a:rPr>
              <a:t>Improve resource utilization </a:t>
            </a:r>
          </a:p>
          <a:p>
            <a:pPr marL="0" indent="0">
              <a:buNone/>
            </a:pPr>
            <a:r>
              <a:rPr lang="en-IN" sz="1900" b="1" dirty="0">
                <a:latin typeface="Times New Roman" panose="02020603050405020304" pitchFamily="18" charset="0"/>
                <a:cs typeface="Times New Roman" panose="02020603050405020304" pitchFamily="18" charset="0"/>
              </a:rPr>
              <a:t>Agricultural Departments</a:t>
            </a:r>
            <a:endParaRPr lang="en-IN" sz="1900" dirty="0">
              <a:latin typeface="Times New Roman" panose="02020603050405020304" pitchFamily="18" charset="0"/>
              <a:cs typeface="Times New Roman" panose="02020603050405020304" pitchFamily="18" charset="0"/>
            </a:endParaRPr>
          </a:p>
          <a:p>
            <a:pPr lvl="0"/>
            <a:r>
              <a:rPr lang="en-IN" sz="1900" dirty="0">
                <a:latin typeface="Times New Roman" panose="02020603050405020304" pitchFamily="18" charset="0"/>
                <a:cs typeface="Times New Roman" panose="02020603050405020304" pitchFamily="18" charset="0"/>
              </a:rPr>
              <a:t>Identify regional/seasonal patterns </a:t>
            </a:r>
          </a:p>
          <a:p>
            <a:pPr lvl="0"/>
            <a:r>
              <a:rPr lang="en-IN" sz="1900" dirty="0">
                <a:latin typeface="Times New Roman" panose="02020603050405020304" pitchFamily="18" charset="0"/>
                <a:cs typeface="Times New Roman" panose="02020603050405020304" pitchFamily="18" charset="0"/>
              </a:rPr>
              <a:t>Support agricultural planning </a:t>
            </a:r>
          </a:p>
          <a:p>
            <a:pPr marL="0" indent="0">
              <a:buNone/>
            </a:pPr>
            <a:r>
              <a:rPr lang="en-IN" sz="1900" b="1" dirty="0">
                <a:latin typeface="Times New Roman" panose="02020603050405020304" pitchFamily="18" charset="0"/>
                <a:cs typeface="Times New Roman" panose="02020603050405020304" pitchFamily="18" charset="0"/>
              </a:rPr>
              <a:t>Agricultural Analysts</a:t>
            </a:r>
            <a:endParaRPr lang="en-IN" sz="1900" dirty="0">
              <a:latin typeface="Times New Roman" panose="02020603050405020304" pitchFamily="18" charset="0"/>
              <a:cs typeface="Times New Roman" panose="02020603050405020304" pitchFamily="18" charset="0"/>
            </a:endParaRPr>
          </a:p>
          <a:p>
            <a:pPr lvl="0"/>
            <a:r>
              <a:rPr lang="en-IN" sz="1900" dirty="0">
                <a:latin typeface="Times New Roman" panose="02020603050405020304" pitchFamily="18" charset="0"/>
                <a:cs typeface="Times New Roman" panose="02020603050405020304" pitchFamily="18" charset="0"/>
              </a:rPr>
              <a:t>Analyse yield, resources and profitability </a:t>
            </a:r>
          </a:p>
          <a:p>
            <a:pPr lvl="0"/>
            <a:r>
              <a:rPr lang="en-IN" sz="1900" dirty="0">
                <a:latin typeface="Times New Roman" panose="02020603050405020304" pitchFamily="18" charset="0"/>
                <a:cs typeface="Times New Roman" panose="02020603050405020304" pitchFamily="18" charset="0"/>
              </a:rPr>
              <a:t>Identify trends and variations </a:t>
            </a:r>
          </a:p>
          <a:p>
            <a:pPr marL="0" indent="0">
              <a:buNone/>
            </a:pPr>
            <a:r>
              <a:rPr lang="en-IN" sz="1900" b="1" dirty="0">
                <a:latin typeface="Times New Roman" panose="02020603050405020304" pitchFamily="18" charset="0"/>
                <a:cs typeface="Times New Roman" panose="02020603050405020304" pitchFamily="18" charset="0"/>
              </a:rPr>
              <a:t>Resource Managers</a:t>
            </a:r>
            <a:endParaRPr lang="en-IN" sz="1900" dirty="0">
              <a:latin typeface="Times New Roman" panose="02020603050405020304" pitchFamily="18" charset="0"/>
              <a:cs typeface="Times New Roman" panose="02020603050405020304" pitchFamily="18" charset="0"/>
            </a:endParaRPr>
          </a:p>
          <a:p>
            <a:pPr lvl="0"/>
            <a:r>
              <a:rPr lang="en-IN" sz="1900" dirty="0">
                <a:latin typeface="Times New Roman" panose="02020603050405020304" pitchFamily="18" charset="0"/>
                <a:cs typeface="Times New Roman" panose="02020603050405020304" pitchFamily="18" charset="0"/>
              </a:rPr>
              <a:t>Study irrigation and water efficiency </a:t>
            </a:r>
          </a:p>
          <a:p>
            <a:pPr lvl="0"/>
            <a:r>
              <a:rPr lang="en-IN" sz="1900" dirty="0">
                <a:latin typeface="Times New Roman" panose="02020603050405020304" pitchFamily="18" charset="0"/>
                <a:cs typeface="Times New Roman" panose="02020603050405020304" pitchFamily="18" charset="0"/>
              </a:rPr>
              <a:t>Improve resource allocation </a:t>
            </a:r>
          </a:p>
          <a:p>
            <a:pPr marL="0" indent="0">
              <a:buNone/>
            </a:pPr>
            <a:r>
              <a:rPr lang="en-IN" sz="1900" b="1" dirty="0">
                <a:latin typeface="Times New Roman" panose="02020603050405020304" pitchFamily="18" charset="0"/>
                <a:cs typeface="Times New Roman" panose="02020603050405020304" pitchFamily="18" charset="0"/>
              </a:rPr>
              <a:t>Agricultural Planners</a:t>
            </a:r>
            <a:endParaRPr lang="en-IN" sz="1900" dirty="0">
              <a:latin typeface="Times New Roman" panose="02020603050405020304" pitchFamily="18" charset="0"/>
              <a:cs typeface="Times New Roman" panose="02020603050405020304" pitchFamily="18" charset="0"/>
            </a:endParaRPr>
          </a:p>
          <a:p>
            <a:pPr lvl="0"/>
            <a:r>
              <a:rPr lang="en-IN" sz="1900" dirty="0">
                <a:latin typeface="Times New Roman" panose="02020603050405020304" pitchFamily="18" charset="0"/>
                <a:cs typeface="Times New Roman" panose="02020603050405020304" pitchFamily="18" charset="0"/>
              </a:rPr>
              <a:t>Use data-driven insights for seasonal decision</a:t>
            </a:r>
          </a:p>
          <a:p>
            <a:pPr algn="just">
              <a:lnSpc>
                <a:spcPct val="150000"/>
              </a:lnSpc>
            </a:pPr>
            <a:endParaRPr lang="en-IN" sz="18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180061" y="195421"/>
            <a:ext cx="9015697" cy="802641"/>
          </a:xfrm>
        </p:spPr>
        <p:txBody>
          <a:bodyPr>
            <a:normAutofit/>
          </a:bodyPr>
          <a:lstStyle/>
          <a:p>
            <a:r>
              <a:rPr lang="en-US" sz="4000" dirty="0">
                <a:latin typeface="Times New Roman" panose="02020603050405020304" pitchFamily="18" charset="0"/>
                <a:cs typeface="Times New Roman" panose="02020603050405020304" pitchFamily="18" charset="0"/>
              </a:rPr>
              <a:t>WHO ARE THE END USERS?</a:t>
            </a:r>
            <a:endParaRPr lang="en-IN" sz="4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
                                            <p:txEl>
                                              <p:pRg st="10" end="10"/>
                                            </p:txEl>
                                          </p:spTgt>
                                        </p:tgtEl>
                                        <p:attrNameLst>
                                          <p:attrName>style.visibility</p:attrName>
                                        </p:attrNameLst>
                                      </p:cBhvr>
                                      <p:to>
                                        <p:strVal val="visible"/>
                                      </p:to>
                                    </p:set>
                                    <p:animEffect transition="in" filter="fade">
                                      <p:cBhvr>
                                        <p:cTn id="84" dur="1000"/>
                                        <p:tgtEl>
                                          <p:spTgt spid="2">
                                            <p:txEl>
                                              <p:pRg st="10" end="10"/>
                                            </p:txEl>
                                          </p:spTgt>
                                        </p:tgtEl>
                                      </p:cBhvr>
                                    </p:animEffect>
                                    <p:anim calcmode="lin" valueType="num">
                                      <p:cBhvr>
                                        <p:cTn id="85"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
                                            <p:txEl>
                                              <p:pRg st="11" end="11"/>
                                            </p:txEl>
                                          </p:spTgt>
                                        </p:tgtEl>
                                        <p:attrNameLst>
                                          <p:attrName>style.visibility</p:attrName>
                                        </p:attrNameLst>
                                      </p:cBhvr>
                                      <p:to>
                                        <p:strVal val="visible"/>
                                      </p:to>
                                    </p:set>
                                    <p:animEffect transition="in" filter="fade">
                                      <p:cBhvr>
                                        <p:cTn id="91" dur="1000"/>
                                        <p:tgtEl>
                                          <p:spTgt spid="2">
                                            <p:txEl>
                                              <p:pRg st="11" end="11"/>
                                            </p:txEl>
                                          </p:spTgt>
                                        </p:tgtEl>
                                      </p:cBhvr>
                                    </p:animEffect>
                                    <p:anim calcmode="lin" valueType="num">
                                      <p:cBhvr>
                                        <p:cTn id="92"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
                                            <p:txEl>
                                              <p:pRg st="12" end="12"/>
                                            </p:txEl>
                                          </p:spTgt>
                                        </p:tgtEl>
                                        <p:attrNameLst>
                                          <p:attrName>style.visibility</p:attrName>
                                        </p:attrNameLst>
                                      </p:cBhvr>
                                      <p:to>
                                        <p:strVal val="visible"/>
                                      </p:to>
                                    </p:set>
                                    <p:animEffect transition="in" filter="fade">
                                      <p:cBhvr>
                                        <p:cTn id="98" dur="1000"/>
                                        <p:tgtEl>
                                          <p:spTgt spid="2">
                                            <p:txEl>
                                              <p:pRg st="12" end="12"/>
                                            </p:txEl>
                                          </p:spTgt>
                                        </p:tgtEl>
                                      </p:cBhvr>
                                    </p:animEffect>
                                    <p:anim calcmode="lin" valueType="num">
                                      <p:cBhvr>
                                        <p:cTn id="99"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2">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
                                            <p:txEl>
                                              <p:pRg st="13" end="13"/>
                                            </p:txEl>
                                          </p:spTgt>
                                        </p:tgtEl>
                                        <p:attrNameLst>
                                          <p:attrName>style.visibility</p:attrName>
                                        </p:attrNameLst>
                                      </p:cBhvr>
                                      <p:to>
                                        <p:strVal val="visible"/>
                                      </p:to>
                                    </p:set>
                                    <p:animEffect transition="in" filter="fade">
                                      <p:cBhvr>
                                        <p:cTn id="105" dur="1000"/>
                                        <p:tgtEl>
                                          <p:spTgt spid="2">
                                            <p:txEl>
                                              <p:pRg st="13" end="13"/>
                                            </p:txEl>
                                          </p:spTgt>
                                        </p:tgtEl>
                                      </p:cBhvr>
                                    </p:animEffect>
                                    <p:anim calcmode="lin" valueType="num">
                                      <p:cBhvr>
                                        <p:cTn id="106" dur="1000" fill="hold"/>
                                        <p:tgtEl>
                                          <p:spTgt spid="2">
                                            <p:txEl>
                                              <p:pRg st="13" end="13"/>
                                            </p:txEl>
                                          </p:spTgt>
                                        </p:tgtEl>
                                        <p:attrNameLst>
                                          <p:attrName>ppt_x</p:attrName>
                                        </p:attrNameLst>
                                      </p:cBhvr>
                                      <p:tavLst>
                                        <p:tav tm="0">
                                          <p:val>
                                            <p:strVal val="#ppt_x"/>
                                          </p:val>
                                        </p:tav>
                                        <p:tav tm="100000">
                                          <p:val>
                                            <p:strVal val="#ppt_x"/>
                                          </p:val>
                                        </p:tav>
                                      </p:tavLst>
                                    </p:anim>
                                    <p:anim calcmode="lin" valueType="num">
                                      <p:cBhvr>
                                        <p:cTn id="107" dur="1000" fill="hold"/>
                                        <p:tgtEl>
                                          <p:spTgt spid="2">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142813" y="3548483"/>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57716" y="1368390"/>
            <a:ext cx="8276567" cy="4877135"/>
          </a:xfrm>
        </p:spPr>
        <p:txBody>
          <a:bodyPr>
            <a:noAutofit/>
          </a:bodyPr>
          <a:lstStyle/>
          <a:p>
            <a:pPr lvl="1">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Python – Data analysis and processing</a:t>
            </a:r>
          </a:p>
          <a:p>
            <a:pPr lvl="1">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Pandas – Data cleaning, manipulation, and analysis</a:t>
            </a:r>
          </a:p>
          <a:p>
            <a:pPr lvl="1">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NumPy – Numerical computations</a:t>
            </a:r>
          </a:p>
          <a:p>
            <a:pPr lvl="1">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Matplotlib – Data visualization</a:t>
            </a:r>
          </a:p>
          <a:p>
            <a:pPr lvl="1">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Seaborn – Statistical visualizations and heatmaps</a:t>
            </a:r>
          </a:p>
          <a:p>
            <a:pPr lvl="1">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SciPy – Statistical analysis and ANOVA testing</a:t>
            </a:r>
          </a:p>
          <a:p>
            <a:pPr lvl="1">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Jupyter Notebook – Development and documentation environment</a:t>
            </a:r>
          </a:p>
          <a:p>
            <a:pPr lvl="1">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VS Code – Project development environment</a:t>
            </a:r>
          </a:p>
          <a:p>
            <a:pPr lvl="1">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GitHub – Project version control and sharing</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562249" y="355637"/>
            <a:ext cx="5306291" cy="847817"/>
          </a:xfrm>
        </p:spPr>
        <p:txBody>
          <a:bodyPr>
            <a:normAutofit/>
          </a:bodyPr>
          <a:lstStyle/>
          <a:p>
            <a:r>
              <a:rPr lang="en-US" sz="4000" dirty="0">
                <a:latin typeface="Times New Roman" panose="02020603050405020304" pitchFamily="18" charset="0"/>
                <a:cs typeface="Times New Roman" panose="02020603050405020304" pitchFamily="18"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animEffect transition="in" filter="fade">
                                      <p:cBhvr>
                                        <p:cTn id="49" dur="1000"/>
                                        <p:tgtEl>
                                          <p:spTgt spid="7">
                                            <p:txEl>
                                              <p:pRg st="7" end="7"/>
                                            </p:txEl>
                                          </p:spTgt>
                                        </p:tgtEl>
                                      </p:cBhvr>
                                    </p:animEffect>
                                    <p:anim calcmode="lin" valueType="num">
                                      <p:cBhvr>
                                        <p:cTn id="50"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7" end="7"/>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7">
                                            <p:txEl>
                                              <p:pRg st="8" end="8"/>
                                            </p:txEl>
                                          </p:spTgt>
                                        </p:tgtEl>
                                        <p:attrNameLst>
                                          <p:attrName>style.visibility</p:attrName>
                                        </p:attrNameLst>
                                      </p:cBhvr>
                                      <p:to>
                                        <p:strVal val="visible"/>
                                      </p:to>
                                    </p:set>
                                    <p:animEffect transition="in" filter="fade">
                                      <p:cBhvr>
                                        <p:cTn id="54" dur="1000"/>
                                        <p:tgtEl>
                                          <p:spTgt spid="7">
                                            <p:txEl>
                                              <p:pRg st="8" end="8"/>
                                            </p:txEl>
                                          </p:spTgt>
                                        </p:tgtEl>
                                      </p:cBhvr>
                                    </p:animEffect>
                                    <p:anim calcmode="lin" valueType="num">
                                      <p:cBhvr>
                                        <p:cTn id="55"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146895"/>
            <a:ext cx="2981643" cy="830997"/>
          </a:xfrm>
        </p:spPr>
        <p:txBody>
          <a:bodyPr>
            <a:normAutofit/>
          </a:bodyPr>
          <a:lstStyle/>
          <a:p>
            <a:r>
              <a:rPr lang="en-GB" sz="40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 Placeholder 8">
            <a:extLst>
              <a:ext uri="{FF2B5EF4-FFF2-40B4-BE49-F238E27FC236}">
                <a16:creationId xmlns:a16="http://schemas.microsoft.com/office/drawing/2014/main" id="{64693C02-D1A6-7B33-F79B-D926B4D58893}"/>
              </a:ext>
            </a:extLst>
          </p:cNvPr>
          <p:cNvSpPr>
            <a:spLocks noGrp="1"/>
          </p:cNvSpPr>
          <p:nvPr>
            <p:ph type="body" sz="quarter" idx="12"/>
          </p:nvPr>
        </p:nvSpPr>
        <p:spPr>
          <a:xfrm>
            <a:off x="3300083" y="2536406"/>
            <a:ext cx="1461698" cy="193040"/>
          </a:xfrm>
        </p:spPr>
        <p:txBody>
          <a:bodyPr>
            <a:normAutofit fontScale="40000" lnSpcReduction="20000"/>
          </a:bodyPr>
          <a:lstStyle/>
          <a:p>
            <a:endParaRPr lang="en-IN" dirty="0"/>
          </a:p>
        </p:txBody>
      </p:sp>
      <p:pic>
        <p:nvPicPr>
          <p:cNvPr id="3" name="Picture 2">
            <a:extLst>
              <a:ext uri="{FF2B5EF4-FFF2-40B4-BE49-F238E27FC236}">
                <a16:creationId xmlns:a16="http://schemas.microsoft.com/office/drawing/2014/main" id="{23523821-3647-90AC-CF74-676EC5029DDF}"/>
              </a:ext>
            </a:extLst>
          </p:cNvPr>
          <p:cNvPicPr>
            <a:picLocks noChangeAspect="1"/>
          </p:cNvPicPr>
          <p:nvPr/>
        </p:nvPicPr>
        <p:blipFill>
          <a:blip r:embed="rId3"/>
          <a:stretch>
            <a:fillRect/>
          </a:stretch>
        </p:blipFill>
        <p:spPr>
          <a:xfrm>
            <a:off x="543463" y="1147313"/>
            <a:ext cx="9118122" cy="5408761"/>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556268" y="205670"/>
            <a:ext cx="6216549" cy="760488"/>
          </a:xfrm>
        </p:spPr>
        <p:txBody>
          <a:bodyPr>
            <a:normAutofit/>
          </a:bodyPr>
          <a:lstStyle/>
          <a:p>
            <a:r>
              <a:rPr lang="en-GB" sz="4000" dirty="0">
                <a:latin typeface="Times New Roman" panose="02020603050405020304" pitchFamily="18" charset="0"/>
                <a:cs typeface="Times New Roman" panose="02020603050405020304" pitchFamily="18" charset="0"/>
              </a:rPr>
              <a:t>RESULTS </a:t>
            </a:r>
            <a:endParaRPr lang="en-IN" sz="40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2722228" y="3045759"/>
            <a:ext cx="2237961" cy="128762"/>
          </a:xfrm>
        </p:spPr>
        <p:txBody>
          <a:bodyPr>
            <a:normAutofit fontScale="25000" lnSpcReduction="20000"/>
          </a:bodyPr>
          <a:lstStyle/>
          <a:p>
            <a:pPr marL="0" indent="0">
              <a:buNone/>
            </a:pPr>
            <a:endParaRPr lang="en-IN" dirty="0"/>
          </a:p>
        </p:txBody>
      </p:sp>
      <p:pic>
        <p:nvPicPr>
          <p:cNvPr id="6" name="Picture 5" descr="The image displays a scatter plot within a Jupyter Notebook environment, showing a correlation between rainfall and crop yield, presumably for agricultural analysis.&#10;&#10;AI-generated content may be incorrect.">
            <a:extLst>
              <a:ext uri="{FF2B5EF4-FFF2-40B4-BE49-F238E27FC236}">
                <a16:creationId xmlns:a16="http://schemas.microsoft.com/office/drawing/2014/main" id="{F9BFFD11-9D54-25C0-0FAF-725E07BBADBC}"/>
              </a:ext>
            </a:extLst>
          </p:cNvPr>
          <p:cNvPicPr>
            <a:picLocks noChangeAspect="1"/>
          </p:cNvPicPr>
          <p:nvPr/>
        </p:nvPicPr>
        <p:blipFill>
          <a:blip r:embed="rId3"/>
          <a:stretch>
            <a:fillRect/>
          </a:stretch>
        </p:blipFill>
        <p:spPr>
          <a:xfrm>
            <a:off x="556268" y="1133869"/>
            <a:ext cx="9224513" cy="552708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236652"/>
            <a:ext cx="4612035" cy="815506"/>
          </a:xfrm>
        </p:spPr>
        <p:txBody>
          <a:bodyPr>
            <a:normAutofit fontScale="90000"/>
          </a:bodyPr>
          <a:lstStyle/>
          <a:p>
            <a:r>
              <a:rPr lang="en-GB" sz="44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3050032" y="2889557"/>
            <a:ext cx="1513342" cy="77930"/>
          </a:xfrm>
        </p:spPr>
        <p:txBody>
          <a:bodyPr>
            <a:normAutofit fontScale="25000" lnSpcReduction="20000"/>
          </a:bodyPr>
          <a:lstStyle/>
          <a:p>
            <a:pPr marL="0" indent="0">
              <a:buNone/>
            </a:pPr>
            <a:r>
              <a:rPr lang="en-US" dirty="0"/>
              <a:t>[A</a:t>
            </a:r>
            <a:endParaRPr lang="en-IN" dirty="0"/>
          </a:p>
        </p:txBody>
      </p:sp>
      <p:pic>
        <p:nvPicPr>
          <p:cNvPr id="11" name="Picture 10" descr="A correlation matrix displaying various agricultural variables, such as farm area, rainfall, temperature, humidity, sunlight hours, and soil pH, with their correlation coefficients.&#10;&#10;AI-generated content may be incorrect.">
            <a:extLst>
              <a:ext uri="{FF2B5EF4-FFF2-40B4-BE49-F238E27FC236}">
                <a16:creationId xmlns:a16="http://schemas.microsoft.com/office/drawing/2014/main" id="{297DEDAD-D8E1-C584-015C-2AB9468F6EF3}"/>
              </a:ext>
            </a:extLst>
          </p:cNvPr>
          <p:cNvPicPr>
            <a:picLocks noChangeAspect="1"/>
          </p:cNvPicPr>
          <p:nvPr/>
        </p:nvPicPr>
        <p:blipFill>
          <a:blip r:embed="rId3"/>
          <a:stretch>
            <a:fillRect/>
          </a:stretch>
        </p:blipFill>
        <p:spPr>
          <a:xfrm>
            <a:off x="586596" y="1275371"/>
            <a:ext cx="9733472" cy="546899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501940" y="129049"/>
            <a:ext cx="2981643" cy="830997"/>
          </a:xfrm>
        </p:spPr>
        <p:txBody>
          <a:bodyPr>
            <a:normAutofit/>
          </a:bodyPr>
          <a:lstStyle/>
          <a:p>
            <a:r>
              <a:rPr lang="en-GB" sz="40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4345694" y="3243240"/>
            <a:ext cx="874987" cy="121062"/>
          </a:xfrm>
        </p:spPr>
        <p:txBody>
          <a:bodyPr>
            <a:normAutofit fontScale="25000" lnSpcReduction="20000"/>
          </a:bodyPr>
          <a:lstStyle/>
          <a:p>
            <a:pPr marL="0" indent="0">
              <a:buNone/>
            </a:pPr>
            <a:r>
              <a:rPr lang="en-US" dirty="0"/>
              <a:t>[</a:t>
            </a:r>
            <a:endParaRPr lang="en-IN" dirty="0"/>
          </a:p>
        </p:txBody>
      </p:sp>
      <p:pic>
        <p:nvPicPr>
          <p:cNvPr id="6" name="Picture 5" descr="The image displays a data visualization or table presenting average crop yields across different states in India, with numerical values for various seasons.&#10;&#10;AI-generated content may be incorrect.">
            <a:extLst>
              <a:ext uri="{FF2B5EF4-FFF2-40B4-BE49-F238E27FC236}">
                <a16:creationId xmlns:a16="http://schemas.microsoft.com/office/drawing/2014/main" id="{4B901513-F821-B44E-46B6-38DCE141F14E}"/>
              </a:ext>
            </a:extLst>
          </p:cNvPr>
          <p:cNvPicPr>
            <a:picLocks noChangeAspect="1"/>
          </p:cNvPicPr>
          <p:nvPr/>
        </p:nvPicPr>
        <p:blipFill>
          <a:blip r:embed="rId3"/>
          <a:stretch>
            <a:fillRect/>
          </a:stretch>
        </p:blipFill>
        <p:spPr>
          <a:xfrm>
            <a:off x="382589" y="1228154"/>
            <a:ext cx="9676184" cy="543680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501940" y="149907"/>
            <a:ext cx="2981643" cy="830997"/>
          </a:xfrm>
        </p:spPr>
        <p:txBody>
          <a:bodyPr>
            <a:normAutofit/>
          </a:bodyPr>
          <a:lstStyle/>
          <a:p>
            <a:r>
              <a:rPr lang="en-GB" sz="40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4345694" y="4312916"/>
            <a:ext cx="1289055" cy="121062"/>
          </a:xfrm>
        </p:spPr>
        <p:txBody>
          <a:bodyPr>
            <a:normAutofit fontScale="25000" lnSpcReduction="20000"/>
          </a:bodyPr>
          <a:lstStyle/>
          <a:p>
            <a:pPr marL="0" indent="0">
              <a:buNone/>
            </a:pPr>
            <a:r>
              <a:rPr lang="en-US" dirty="0"/>
              <a:t>[</a:t>
            </a:r>
            <a:endParaRPr lang="en-IN" dirty="0"/>
          </a:p>
        </p:txBody>
      </p:sp>
      <p:pic>
        <p:nvPicPr>
          <p:cNvPr id="6" name="Picture 5">
            <a:extLst>
              <a:ext uri="{FF2B5EF4-FFF2-40B4-BE49-F238E27FC236}">
                <a16:creationId xmlns:a16="http://schemas.microsoft.com/office/drawing/2014/main" id="{F5DF39E5-FF7F-1D60-0A81-FD115A32A8AF}"/>
              </a:ext>
            </a:extLst>
          </p:cNvPr>
          <p:cNvPicPr>
            <a:picLocks noChangeAspect="1"/>
          </p:cNvPicPr>
          <p:nvPr/>
        </p:nvPicPr>
        <p:blipFill>
          <a:blip r:embed="rId3"/>
          <a:stretch>
            <a:fillRect/>
          </a:stretch>
        </p:blipFill>
        <p:spPr>
          <a:xfrm>
            <a:off x="413387" y="1176714"/>
            <a:ext cx="10291993" cy="539661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320982" y="444374"/>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32C272F2-CB65-F537-127D-703E79B1A324}"/>
              </a:ext>
            </a:extLst>
          </p:cNvPr>
          <p:cNvSpPr txBox="1"/>
          <p:nvPr/>
        </p:nvSpPr>
        <p:spPr>
          <a:xfrm>
            <a:off x="211576" y="1414757"/>
            <a:ext cx="9139458" cy="5078313"/>
          </a:xfrm>
          <a:prstGeom prst="rect">
            <a:avLst/>
          </a:prstGeom>
          <a:noFill/>
        </p:spPr>
        <p:txBody>
          <a:bodyPr wrap="square" rtlCol="0">
            <a:spAutoFit/>
          </a:bodyPr>
          <a:lstStyle/>
          <a:p>
            <a:pPr lvl="0" algn="just"/>
            <a:r>
              <a:rPr lang="en-IN" b="1" dirty="0">
                <a:latin typeface="Times New Roman" panose="02020603050405020304" pitchFamily="18" charset="0"/>
                <a:cs typeface="Times New Roman" panose="02020603050405020304" pitchFamily="18" charset="0"/>
              </a:rPr>
              <a:t>Predictive Analysis:</a:t>
            </a:r>
            <a:r>
              <a:rPr lang="en-IN" dirty="0">
                <a:latin typeface="Times New Roman" panose="02020603050405020304" pitchFamily="18" charset="0"/>
                <a:cs typeface="Times New Roman" panose="02020603050405020304" pitchFamily="18" charset="0"/>
              </a:rPr>
              <a:t> </a:t>
            </a:r>
          </a:p>
          <a:p>
            <a:pPr lvl="0" algn="just"/>
            <a:r>
              <a:rPr lang="en-IN" dirty="0">
                <a:latin typeface="Times New Roman" panose="02020603050405020304" pitchFamily="18" charset="0"/>
                <a:cs typeface="Times New Roman" panose="02020603050405020304" pitchFamily="18" charset="0"/>
              </a:rPr>
              <a:t>Develop machine learning models to predict crop yield, revenue and profit for different seasons.</a:t>
            </a:r>
          </a:p>
          <a:p>
            <a:pPr lvl="0" algn="just"/>
            <a:r>
              <a:rPr lang="en-IN" b="1" dirty="0">
                <a:latin typeface="Times New Roman" panose="02020603050405020304" pitchFamily="18" charset="0"/>
                <a:cs typeface="Times New Roman" panose="02020603050405020304" pitchFamily="18" charset="0"/>
              </a:rPr>
              <a:t>Weather-Based Prediction:</a:t>
            </a:r>
            <a:r>
              <a:rPr lang="en-IN" dirty="0">
                <a:latin typeface="Times New Roman" panose="02020603050405020304" pitchFamily="18" charset="0"/>
                <a:cs typeface="Times New Roman" panose="02020603050405020304" pitchFamily="18" charset="0"/>
              </a:rPr>
              <a:t> </a:t>
            </a:r>
          </a:p>
          <a:p>
            <a:pPr lvl="0" algn="just"/>
            <a:r>
              <a:rPr lang="en-IN" dirty="0">
                <a:latin typeface="Times New Roman" panose="02020603050405020304" pitchFamily="18" charset="0"/>
                <a:cs typeface="Times New Roman" panose="02020603050405020304" pitchFamily="18" charset="0"/>
              </a:rPr>
              <a:t>Integrate real-time weather data such as rainfall, temperature and humidity to improve seasonal performance analysis.</a:t>
            </a:r>
          </a:p>
          <a:p>
            <a:pPr lvl="0" algn="just"/>
            <a:r>
              <a:rPr lang="en-IN" b="1" dirty="0">
                <a:latin typeface="Times New Roman" panose="02020603050405020304" pitchFamily="18" charset="0"/>
                <a:cs typeface="Times New Roman" panose="02020603050405020304" pitchFamily="18" charset="0"/>
              </a:rPr>
              <a:t>Crop Recommendation:</a:t>
            </a:r>
            <a:r>
              <a:rPr lang="en-IN" dirty="0">
                <a:latin typeface="Times New Roman" panose="02020603050405020304" pitchFamily="18" charset="0"/>
                <a:cs typeface="Times New Roman" panose="02020603050405020304" pitchFamily="18" charset="0"/>
              </a:rPr>
              <a:t> </a:t>
            </a:r>
          </a:p>
          <a:p>
            <a:pPr lvl="0" algn="just"/>
            <a:r>
              <a:rPr lang="en-IN" dirty="0">
                <a:latin typeface="Times New Roman" panose="02020603050405020304" pitchFamily="18" charset="0"/>
                <a:cs typeface="Times New Roman" panose="02020603050405020304" pitchFamily="18" charset="0"/>
              </a:rPr>
              <a:t>Recommend suitable crops based on season, soil conditions, weather and expected profitability.</a:t>
            </a:r>
          </a:p>
          <a:p>
            <a:pPr lvl="0" algn="just"/>
            <a:r>
              <a:rPr lang="en-IN" b="1" dirty="0">
                <a:latin typeface="Times New Roman" panose="02020603050405020304" pitchFamily="18" charset="0"/>
                <a:cs typeface="Times New Roman" panose="02020603050405020304" pitchFamily="18" charset="0"/>
              </a:rPr>
              <a:t>Smart Irrigation:</a:t>
            </a:r>
            <a:r>
              <a:rPr lang="en-IN" dirty="0">
                <a:latin typeface="Times New Roman" panose="02020603050405020304" pitchFamily="18" charset="0"/>
                <a:cs typeface="Times New Roman" panose="02020603050405020304" pitchFamily="18" charset="0"/>
              </a:rPr>
              <a:t> </a:t>
            </a:r>
          </a:p>
          <a:p>
            <a:pPr lvl="0" algn="just"/>
            <a:r>
              <a:rPr lang="en-IN" dirty="0">
                <a:latin typeface="Times New Roman" panose="02020603050405020304" pitchFamily="18" charset="0"/>
                <a:cs typeface="Times New Roman" panose="02020603050405020304" pitchFamily="18" charset="0"/>
              </a:rPr>
              <a:t>Use water-usage and water-efficiency data to suggest efficient irrigation methods and reduce water wastage.</a:t>
            </a:r>
          </a:p>
          <a:p>
            <a:pPr lvl="0" algn="just"/>
            <a:r>
              <a:rPr lang="en-IN" b="1" dirty="0">
                <a:latin typeface="Times New Roman" panose="02020603050405020304" pitchFamily="18" charset="0"/>
                <a:cs typeface="Times New Roman" panose="02020603050405020304" pitchFamily="18" charset="0"/>
              </a:rPr>
              <a:t>Disease &amp; Pest Prediction:</a:t>
            </a:r>
            <a:r>
              <a:rPr lang="en-IN" dirty="0">
                <a:latin typeface="Times New Roman" panose="02020603050405020304" pitchFamily="18" charset="0"/>
                <a:cs typeface="Times New Roman" panose="02020603050405020304" pitchFamily="18" charset="0"/>
              </a:rPr>
              <a:t> </a:t>
            </a:r>
          </a:p>
          <a:p>
            <a:pPr lvl="0" algn="just"/>
            <a:r>
              <a:rPr lang="en-IN" dirty="0">
                <a:latin typeface="Times New Roman" panose="02020603050405020304" pitchFamily="18" charset="0"/>
                <a:cs typeface="Times New Roman" panose="02020603050405020304" pitchFamily="18" charset="0"/>
              </a:rPr>
              <a:t>Develop models to identify high-risk seasonal conditions and provide early warnings.</a:t>
            </a:r>
          </a:p>
          <a:p>
            <a:pPr lvl="0" algn="just"/>
            <a:r>
              <a:rPr lang="en-IN" b="1" dirty="0">
                <a:latin typeface="Times New Roman" panose="02020603050405020304" pitchFamily="18" charset="0"/>
                <a:cs typeface="Times New Roman" panose="02020603050405020304" pitchFamily="18" charset="0"/>
              </a:rPr>
              <a:t>Regional Analysis:</a:t>
            </a:r>
            <a:r>
              <a:rPr lang="en-IN" dirty="0">
                <a:latin typeface="Times New Roman" panose="02020603050405020304" pitchFamily="18" charset="0"/>
                <a:cs typeface="Times New Roman" panose="02020603050405020304" pitchFamily="18" charset="0"/>
              </a:rPr>
              <a:t> </a:t>
            </a:r>
          </a:p>
          <a:p>
            <a:pPr lvl="0" algn="just"/>
            <a:r>
              <a:rPr lang="en-IN" dirty="0">
                <a:latin typeface="Times New Roman" panose="02020603050405020304" pitchFamily="18" charset="0"/>
                <a:cs typeface="Times New Roman" panose="02020603050405020304" pitchFamily="18" charset="0"/>
              </a:rPr>
              <a:t>Extend the analysis to compare agricultural performance across different states, districts and geographical regions.</a:t>
            </a:r>
          </a:p>
          <a:p>
            <a:pPr lvl="0" algn="just"/>
            <a:r>
              <a:rPr lang="en-IN" b="1" dirty="0">
                <a:latin typeface="Times New Roman" panose="02020603050405020304" pitchFamily="18" charset="0"/>
                <a:cs typeface="Times New Roman" panose="02020603050405020304" pitchFamily="18" charset="0"/>
              </a:rPr>
              <a:t>Real-Time Dashboard:</a:t>
            </a:r>
            <a:r>
              <a:rPr lang="en-IN" dirty="0">
                <a:latin typeface="Times New Roman" panose="02020603050405020304" pitchFamily="18" charset="0"/>
                <a:cs typeface="Times New Roman" panose="02020603050405020304" pitchFamily="18" charset="0"/>
              </a:rPr>
              <a:t> </a:t>
            </a:r>
          </a:p>
          <a:p>
            <a:pPr lvl="0" algn="just"/>
            <a:r>
              <a:rPr lang="en-IN" dirty="0">
                <a:latin typeface="Times New Roman" panose="02020603050405020304" pitchFamily="18" charset="0"/>
                <a:cs typeface="Times New Roman" panose="02020603050405020304" pitchFamily="18" charset="0"/>
              </a:rPr>
              <a:t>Build an interactive dashboard for farmers and agricultural stakeholders to monitor seasonal performance and make data-driven decisions.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451183" y="531744"/>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076AD45C-0922-4927-427C-316DDEDE1F0E}"/>
              </a:ext>
            </a:extLst>
          </p:cNvPr>
          <p:cNvSpPr txBox="1"/>
          <p:nvPr/>
        </p:nvSpPr>
        <p:spPr>
          <a:xfrm>
            <a:off x="424499" y="2597707"/>
            <a:ext cx="9237086" cy="369332"/>
          </a:xfrm>
          <a:prstGeom prst="rect">
            <a:avLst/>
          </a:prstGeom>
          <a:noFill/>
        </p:spPr>
        <p:txBody>
          <a:bodyPr wrap="square">
            <a:spAutoFit/>
          </a:bodyPr>
          <a:lstStyle/>
          <a:p>
            <a:r>
              <a:rPr lang="en-IN" dirty="0"/>
              <a:t>https://github.com/manaswini8606-cpu/Seasonal-Agriculture-Performance-Analysis.git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258792" y="370589"/>
            <a:ext cx="9230265" cy="1320188"/>
          </a:xfrm>
        </p:spPr>
        <p:txBody>
          <a:bodyPr>
            <a:noAutofit/>
          </a:bodyPr>
          <a:lstStyle/>
          <a:p>
            <a:pPr algn="ctr"/>
            <a:r>
              <a:rPr lang="en-IN" sz="4000" dirty="0">
                <a:latin typeface="Times New Roman" panose="02020603050405020304" pitchFamily="18" charset="0"/>
                <a:cs typeface="Times New Roman" panose="02020603050405020304" pitchFamily="18" charset="0"/>
              </a:rPr>
              <a:t>VOIS Course completion certificate  </a:t>
            </a:r>
            <a:br>
              <a:rPr lang="en-IN" sz="4000" dirty="0">
                <a:latin typeface="Times New Roman" panose="02020603050405020304" pitchFamily="18" charset="0"/>
                <a:cs typeface="Times New Roman" panose="02020603050405020304" pitchFamily="18" charset="0"/>
              </a:rPr>
            </a:br>
            <a:r>
              <a:rPr lang="en-IN" sz="3800" b="0" dirty="0">
                <a:latin typeface="Times New Roman" panose="02020603050405020304" pitchFamily="18" charset="0"/>
                <a:cs typeface="Times New Roman" panose="02020603050405020304" pitchFamily="18" charset="0"/>
              </a:rPr>
              <a:t>Course name -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The image is a certificate of completion for a course in data visualization, awarded to Choppara Manaswini, presented by the Vodafone Idea Foundation.&#10;&#10;AI-generated content may be incorrect.">
            <a:extLst>
              <a:ext uri="{FF2B5EF4-FFF2-40B4-BE49-F238E27FC236}">
                <a16:creationId xmlns:a16="http://schemas.microsoft.com/office/drawing/2014/main" id="{7C1CF348-2235-0343-8451-5504EE13B8F4}"/>
              </a:ext>
            </a:extLst>
          </p:cNvPr>
          <p:cNvPicPr>
            <a:picLocks noChangeAspect="1"/>
          </p:cNvPicPr>
          <p:nvPr/>
        </p:nvPicPr>
        <p:blipFill>
          <a:blip r:embed="rId3"/>
          <a:stretch>
            <a:fillRect/>
          </a:stretch>
        </p:blipFill>
        <p:spPr>
          <a:xfrm>
            <a:off x="1047398" y="1797010"/>
            <a:ext cx="8070722" cy="486795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47016" y="2670905"/>
            <a:ext cx="8566031" cy="700114"/>
          </a:xfrm>
          <a:prstGeom prst="rect">
            <a:avLst/>
          </a:prstGeom>
        </p:spPr>
        <p:txBody>
          <a:bodyPr anchor="ctr">
            <a:noAutofit/>
          </a:bodyPr>
          <a:lstStyle/>
          <a:p>
            <a:pPr algn="ctr"/>
            <a:r>
              <a:rPr lang="en-US" sz="6000" b="1" dirty="0">
                <a:solidFill>
                  <a:schemeClr val="tx1"/>
                </a:solidFill>
                <a:latin typeface="Times New Roman" panose="02020603050405020304" pitchFamily="18" charset="0"/>
                <a:cs typeface="Times New Roman" panose="02020603050405020304" pitchFamily="18"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640</TotalTime>
  <Words>505</Words>
  <Application>Microsoft Office PowerPoint</Application>
  <PresentationFormat>Widescreen</PresentationFormat>
  <Paragraphs>75</Paragraphs>
  <Slides>14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Courier New</vt:lpstr>
      <vt:lpstr>Times New Roman</vt:lpstr>
      <vt:lpstr>Trebuchet MS</vt:lpstr>
      <vt:lpstr>Wingdings</vt:lpstr>
      <vt:lpstr>Wingdings 3</vt: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Course name -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Varnavi S</cp:lastModifiedBy>
  <cp:revision>99</cp:revision>
  <dcterms:created xsi:type="dcterms:W3CDTF">2021-07-11T13:13:15Z</dcterms:created>
  <dcterms:modified xsi:type="dcterms:W3CDTF">2026-09-04T17:17:05Z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